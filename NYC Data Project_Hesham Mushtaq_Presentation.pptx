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2AD74E-198E-481B-9957-9AAFB6DA0A3A}">
  <a:tblStyle styleId="{D72AD74E-198E-481B-9957-9AAFB6DA0A3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Inter-bold.fntdata"/><Relationship Id="rId16" Type="http://schemas.openxmlformats.org/officeDocument/2006/relationships/font" Target="fonts/Inter-regular.fntdata"/><Relationship Id="rId19" Type="http://schemas.openxmlformats.org/officeDocument/2006/relationships/font" Target="fonts/Inter-boldItalic.fntdata"/><Relationship Id="rId18"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af71653ca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af71653ca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f71653caa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af71653caa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f71653caa_0_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f71653caa_0_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f71653caa_0_10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f71653caa_0_10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af71653caa_0_9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af71653caa_0_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schema design here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af7b4e1fca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af7b4e1fca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af71653caa_0_1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af71653caa_0_1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Insert schema design here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f71653caa_0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af71653caa_0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af71653caa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af71653caa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4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47"/>
          <p:cNvSpPr txBox="1"/>
          <p:nvPr>
            <p:ph type="title"/>
          </p:nvPr>
        </p:nvSpPr>
        <p:spPr>
          <a:xfrm>
            <a:off x="283850" y="224400"/>
            <a:ext cx="6683700" cy="1629900"/>
          </a:xfrm>
          <a:prstGeom prst="rect">
            <a:avLst/>
          </a:prstGeom>
        </p:spPr>
        <p:txBody>
          <a:bodyPr anchorCtr="0" anchor="t" bIns="91425" lIns="0" spcFirstLastPara="1" rIns="91425" wrap="square" tIns="91425">
            <a:noAutofit/>
          </a:bodyPr>
          <a:lstStyle/>
          <a:p>
            <a:pPr indent="0" lvl="0" marL="0" rtl="0" algn="l">
              <a:lnSpc>
                <a:spcPct val="90000"/>
              </a:lnSpc>
              <a:spcBef>
                <a:spcPts val="0"/>
              </a:spcBef>
              <a:spcAft>
                <a:spcPts val="0"/>
              </a:spcAft>
              <a:buClr>
                <a:schemeClr val="lt1"/>
              </a:buClr>
              <a:buSzPts val="1100"/>
              <a:buFont typeface="Arial"/>
              <a:buNone/>
            </a:pPr>
            <a:r>
              <a:rPr lang="en" sz="4400"/>
              <a:t>Riding the Data:</a:t>
            </a:r>
            <a:endParaRPr sz="4400"/>
          </a:p>
          <a:p>
            <a:pPr indent="0" lvl="0" marL="0" rtl="0" algn="l">
              <a:lnSpc>
                <a:spcPct val="90000"/>
              </a:lnSpc>
              <a:spcBef>
                <a:spcPts val="0"/>
              </a:spcBef>
              <a:spcAft>
                <a:spcPts val="0"/>
              </a:spcAft>
              <a:buNone/>
            </a:pPr>
            <a:r>
              <a:rPr lang="en" sz="3300"/>
              <a:t>An Analysis of NYC’s Taxi Economy</a:t>
            </a:r>
            <a:endParaRPr sz="3300"/>
          </a:p>
        </p:txBody>
      </p:sp>
      <p:sp>
        <p:nvSpPr>
          <p:cNvPr id="363" name="Google Shape;363;p47"/>
          <p:cNvSpPr txBox="1"/>
          <p:nvPr>
            <p:ph idx="2" type="title"/>
          </p:nvPr>
        </p:nvSpPr>
        <p:spPr>
          <a:xfrm>
            <a:off x="284850" y="4757100"/>
            <a:ext cx="6923400" cy="26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A Presentation </a:t>
            </a:r>
            <a:r>
              <a:rPr lang="en" sz="1200"/>
              <a:t>by Group</a:t>
            </a:r>
            <a:r>
              <a:rPr lang="en" sz="1200"/>
              <a:t> 17: </a:t>
            </a:r>
            <a:r>
              <a:rPr lang="en" sz="1200"/>
              <a:t>Hesham Mushtaq, Aedan Bayhan, Alex Kardan, and Steven Chu</a:t>
            </a:r>
            <a:endParaRPr sz="1200"/>
          </a:p>
          <a:p>
            <a:pPr indent="0" lvl="0" marL="0" rtl="0" algn="l">
              <a:spcBef>
                <a:spcPts val="0"/>
              </a:spcBef>
              <a:spcAft>
                <a:spcPts val="0"/>
              </a:spcAft>
              <a:buNone/>
            </a:pPr>
            <a:r>
              <a:t/>
            </a:r>
            <a:endParaRPr sz="1200"/>
          </a:p>
        </p:txBody>
      </p:sp>
      <p:cxnSp>
        <p:nvCxnSpPr>
          <p:cNvPr id="364" name="Google Shape;364;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
        <p:nvSpPr>
          <p:cNvPr id="365" name="Google Shape;365;p47"/>
          <p:cNvSpPr/>
          <p:nvPr/>
        </p:nvSpPr>
        <p:spPr>
          <a:xfrm>
            <a:off x="484225" y="1964000"/>
            <a:ext cx="2701500" cy="25368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Inter"/>
              <a:ea typeface="Inter"/>
              <a:cs typeface="Inter"/>
              <a:sym typeface="Inter"/>
            </a:endParaRPr>
          </a:p>
        </p:txBody>
      </p:sp>
      <p:pic>
        <p:nvPicPr>
          <p:cNvPr id="366" name="Google Shape;366;p47" title="[CITYPNG.COM]Transparent HD NYC Taxi Yellow Silhouette - 1500x1500.png"/>
          <p:cNvPicPr preferRelativeResize="0"/>
          <p:nvPr/>
        </p:nvPicPr>
        <p:blipFill>
          <a:blip r:embed="rId3">
            <a:alphaModFix/>
          </a:blip>
          <a:stretch>
            <a:fillRect/>
          </a:stretch>
        </p:blipFill>
        <p:spPr>
          <a:xfrm>
            <a:off x="457000" y="1854412"/>
            <a:ext cx="2755950" cy="2755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8"/>
          <p:cNvSpPr txBox="1"/>
          <p:nvPr>
            <p:ph type="title"/>
          </p:nvPr>
        </p:nvSpPr>
        <p:spPr>
          <a:xfrm>
            <a:off x="284850" y="285900"/>
            <a:ext cx="6423900" cy="575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4400"/>
              <a:t>Dataset Overview</a:t>
            </a:r>
            <a:endParaRPr sz="4400"/>
          </a:p>
        </p:txBody>
      </p:sp>
      <p:sp>
        <p:nvSpPr>
          <p:cNvPr id="372" name="Google Shape;372;p48"/>
          <p:cNvSpPr txBox="1"/>
          <p:nvPr/>
        </p:nvSpPr>
        <p:spPr>
          <a:xfrm>
            <a:off x="365425" y="950125"/>
            <a:ext cx="8450700" cy="36087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lt1"/>
              </a:buClr>
              <a:buSzPts val="2100"/>
              <a:buFont typeface="Inter"/>
              <a:buChar char="●"/>
            </a:pPr>
            <a:r>
              <a:rPr lang="en" sz="2100">
                <a:solidFill>
                  <a:schemeClr val="lt1"/>
                </a:solidFill>
                <a:latin typeface="Inter"/>
                <a:ea typeface="Inter"/>
                <a:cs typeface="Inter"/>
                <a:sym typeface="Inter"/>
              </a:rPr>
              <a:t>Source: Kaggle (anandshaw2001/taxi-dataset)</a:t>
            </a:r>
            <a:endParaRPr sz="2100">
              <a:solidFill>
                <a:schemeClr val="lt1"/>
              </a:solidFill>
              <a:latin typeface="Inter"/>
              <a:ea typeface="Inter"/>
              <a:cs typeface="Inter"/>
              <a:sym typeface="Inter"/>
            </a:endParaRPr>
          </a:p>
          <a:p>
            <a:pPr indent="-361950" lvl="0" marL="457200" rtl="0" algn="l">
              <a:spcBef>
                <a:spcPts val="0"/>
              </a:spcBef>
              <a:spcAft>
                <a:spcPts val="0"/>
              </a:spcAft>
              <a:buClr>
                <a:schemeClr val="lt1"/>
              </a:buClr>
              <a:buSzPts val="2100"/>
              <a:buFont typeface="Inter"/>
              <a:buChar char="●"/>
            </a:pPr>
            <a:r>
              <a:rPr lang="en" sz="2100">
                <a:solidFill>
                  <a:schemeClr val="lt1"/>
                </a:solidFill>
                <a:latin typeface="Inter"/>
                <a:ea typeface="Inter"/>
                <a:cs typeface="Inter"/>
                <a:sym typeface="Inter"/>
              </a:rPr>
              <a:t>Time period: January-February 2020</a:t>
            </a:r>
            <a:endParaRPr sz="2100">
              <a:solidFill>
                <a:schemeClr val="lt1"/>
              </a:solidFill>
              <a:latin typeface="Inter"/>
              <a:ea typeface="Inter"/>
              <a:cs typeface="Inter"/>
              <a:sym typeface="Inter"/>
            </a:endParaRPr>
          </a:p>
          <a:p>
            <a:pPr indent="-361950" lvl="0" marL="457200" rtl="0" algn="l">
              <a:spcBef>
                <a:spcPts val="0"/>
              </a:spcBef>
              <a:spcAft>
                <a:spcPts val="0"/>
              </a:spcAft>
              <a:buClr>
                <a:schemeClr val="lt1"/>
              </a:buClr>
              <a:buSzPts val="2100"/>
              <a:buFont typeface="Inter"/>
              <a:buChar char="●"/>
            </a:pPr>
            <a:r>
              <a:rPr lang="en" sz="2100">
                <a:solidFill>
                  <a:schemeClr val="lt1"/>
                </a:solidFill>
                <a:latin typeface="Inter"/>
                <a:ea typeface="Inter"/>
                <a:cs typeface="Inter"/>
                <a:sym typeface="Inter"/>
              </a:rPr>
              <a:t>Size: 11.9 million trips</a:t>
            </a:r>
            <a:endParaRPr sz="2100">
              <a:solidFill>
                <a:schemeClr val="lt1"/>
              </a:solidFill>
              <a:latin typeface="Inter"/>
              <a:ea typeface="Inter"/>
              <a:cs typeface="Inter"/>
              <a:sym typeface="Inter"/>
            </a:endParaRPr>
          </a:p>
          <a:p>
            <a:pPr indent="-361950" lvl="0" marL="457200" rtl="0" algn="l">
              <a:spcBef>
                <a:spcPts val="0"/>
              </a:spcBef>
              <a:spcAft>
                <a:spcPts val="0"/>
              </a:spcAft>
              <a:buClr>
                <a:schemeClr val="lt1"/>
              </a:buClr>
              <a:buSzPts val="2100"/>
              <a:buFont typeface="Inter"/>
              <a:buChar char="●"/>
            </a:pPr>
            <a:r>
              <a:rPr lang="en" sz="2100">
                <a:solidFill>
                  <a:schemeClr val="lt1"/>
                </a:solidFill>
                <a:latin typeface="Inter"/>
                <a:ea typeface="Inter"/>
                <a:cs typeface="Inter"/>
                <a:sym typeface="Inter"/>
              </a:rPr>
              <a:t>Key fields: pickup/dropoff times &amp; locations, fares, payment types, distances</a:t>
            </a:r>
            <a:endParaRPr sz="2100">
              <a:solidFill>
                <a:schemeClr val="lt1"/>
              </a:solidFill>
              <a:latin typeface="Inter"/>
              <a:ea typeface="Inter"/>
              <a:cs typeface="Inter"/>
              <a:sym typeface="Inter"/>
            </a:endParaRPr>
          </a:p>
          <a:p>
            <a:pPr indent="-361950" lvl="0" marL="457200" rtl="0" algn="l">
              <a:spcBef>
                <a:spcPts val="0"/>
              </a:spcBef>
              <a:spcAft>
                <a:spcPts val="0"/>
              </a:spcAft>
              <a:buClr>
                <a:schemeClr val="lt1"/>
              </a:buClr>
              <a:buSzPts val="2100"/>
              <a:buFont typeface="Inter"/>
              <a:buChar char="●"/>
            </a:pPr>
            <a:r>
              <a:rPr lang="en" sz="2100">
                <a:solidFill>
                  <a:schemeClr val="lt1"/>
                </a:solidFill>
                <a:latin typeface="Inter"/>
                <a:ea typeface="Inter"/>
                <a:cs typeface="Inter"/>
                <a:sym typeface="Inter"/>
              </a:rPr>
              <a:t>Why this matters: With Uber, Lyft, and Citi Bike disrupting urban transportation, traditional taxis must leverage data to compete. Our analysis reveals strategic opportunities for taxis to optimize routes, pricing, and service hours to reclaim market share in NYC's gig economy.</a:t>
            </a:r>
            <a:endParaRPr sz="2100">
              <a:solidFill>
                <a:schemeClr val="lt1"/>
              </a:solidFill>
              <a:latin typeface="Inter"/>
              <a:ea typeface="Inter"/>
              <a:cs typeface="Inter"/>
              <a:sym typeface="Inter"/>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graphicFrame>
        <p:nvGraphicFramePr>
          <p:cNvPr id="377" name="Google Shape;377;p49"/>
          <p:cNvGraphicFramePr/>
          <p:nvPr/>
        </p:nvGraphicFramePr>
        <p:xfrm>
          <a:off x="2840600" y="1563150"/>
          <a:ext cx="3000000" cy="3000000"/>
        </p:xfrm>
        <a:graphic>
          <a:graphicData uri="http://schemas.openxmlformats.org/drawingml/2006/table">
            <a:tbl>
              <a:tblPr>
                <a:noFill/>
                <a:tableStyleId>{D72AD74E-198E-481B-9957-9AAFB6DA0A3A}</a:tableStyleId>
              </a:tblPr>
              <a:tblGrid>
                <a:gridCol w="1059375"/>
                <a:gridCol w="1059375"/>
              </a:tblGrid>
              <a:tr h="297000">
                <a:tc>
                  <a:txBody>
                    <a:bodyPr/>
                    <a:lstStyle/>
                    <a:p>
                      <a:pPr indent="0" lvl="0" marL="0" rtl="0" algn="l">
                        <a:spcBef>
                          <a:spcPts val="0"/>
                        </a:spcBef>
                        <a:spcAft>
                          <a:spcPts val="0"/>
                        </a:spcAft>
                        <a:buNone/>
                      </a:pPr>
                      <a:r>
                        <a:rPr lang="en"/>
                        <a:t>year</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ride_count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7000">
                <a:tc>
                  <a:txBody>
                    <a:bodyPr/>
                    <a:lstStyle/>
                    <a:p>
                      <a:pPr indent="0" lvl="0" marL="0" rtl="0" algn="l">
                        <a:spcBef>
                          <a:spcPts val="0"/>
                        </a:spcBef>
                        <a:spcAft>
                          <a:spcPts val="0"/>
                        </a:spcAft>
                        <a:buNone/>
                      </a:pPr>
                      <a:r>
                        <a:rPr lang="en"/>
                        <a:t>2003</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1</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7000">
                <a:tc>
                  <a:txBody>
                    <a:bodyPr/>
                    <a:lstStyle/>
                    <a:p>
                      <a:pPr indent="0" lvl="0" marL="0" rtl="0" algn="l">
                        <a:spcBef>
                          <a:spcPts val="0"/>
                        </a:spcBef>
                        <a:spcAft>
                          <a:spcPts val="0"/>
                        </a:spcAft>
                        <a:buNone/>
                      </a:pPr>
                      <a:r>
                        <a:rPr lang="en"/>
                        <a:t>2008</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16</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7000">
                <a:tc>
                  <a:txBody>
                    <a:bodyPr/>
                    <a:lstStyle/>
                    <a:p>
                      <a:pPr indent="0" lvl="0" marL="0" rtl="0" algn="l">
                        <a:spcBef>
                          <a:spcPts val="0"/>
                        </a:spcBef>
                        <a:spcAft>
                          <a:spcPts val="0"/>
                        </a:spcAft>
                        <a:buNone/>
                      </a:pPr>
                      <a:r>
                        <a:rPr lang="en"/>
                        <a:t>2009</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40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7000">
                <a:tc>
                  <a:txBody>
                    <a:bodyPr/>
                    <a:lstStyle/>
                    <a:p>
                      <a:pPr indent="0" lvl="0" marL="0" rtl="0" algn="l">
                        <a:spcBef>
                          <a:spcPts val="0"/>
                        </a:spcBef>
                        <a:spcAft>
                          <a:spcPts val="0"/>
                        </a:spcAft>
                        <a:buNone/>
                      </a:pPr>
                      <a:r>
                        <a:rPr lang="en"/>
                        <a:t>2019</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131</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7000">
                <a:tc>
                  <a:txBody>
                    <a:bodyPr/>
                    <a:lstStyle/>
                    <a:p>
                      <a:pPr indent="0" lvl="0" marL="0" rtl="0" algn="l">
                        <a:spcBef>
                          <a:spcPts val="0"/>
                        </a:spcBef>
                        <a:spcAft>
                          <a:spcPts val="0"/>
                        </a:spcAft>
                        <a:buNone/>
                      </a:pPr>
                      <a:r>
                        <a:rPr lang="en"/>
                        <a:t>2020</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11916471</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97000">
                <a:tc>
                  <a:txBody>
                    <a:bodyPr/>
                    <a:lstStyle/>
                    <a:p>
                      <a:pPr indent="0" lvl="0" marL="0" rtl="0" algn="l">
                        <a:spcBef>
                          <a:spcPts val="0"/>
                        </a:spcBef>
                        <a:spcAft>
                          <a:spcPts val="0"/>
                        </a:spcAft>
                        <a:buNone/>
                      </a:pPr>
                      <a:r>
                        <a:rPr lang="en"/>
                        <a:t>2021</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3</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378" name="Google Shape;378;p49"/>
          <p:cNvSpPr txBox="1"/>
          <p:nvPr>
            <p:ph type="title"/>
          </p:nvPr>
        </p:nvSpPr>
        <p:spPr>
          <a:xfrm>
            <a:off x="284850" y="285900"/>
            <a:ext cx="6423900" cy="575700"/>
          </a:xfrm>
          <a:prstGeom prst="rect">
            <a:avLst/>
          </a:prstGeom>
          <a:ln>
            <a:noFill/>
          </a:ln>
        </p:spPr>
        <p:txBody>
          <a:bodyPr anchorCtr="0" anchor="t" bIns="0" lIns="0" spcFirstLastPara="1" rIns="0" wrap="square" tIns="0">
            <a:spAutoFit/>
          </a:bodyPr>
          <a:lstStyle/>
          <a:p>
            <a:pPr indent="0" lvl="0" marL="0" rtl="0" algn="l">
              <a:spcBef>
                <a:spcPts val="0"/>
              </a:spcBef>
              <a:spcAft>
                <a:spcPts val="0"/>
              </a:spcAft>
              <a:buNone/>
            </a:pPr>
            <a:r>
              <a:rPr lang="en" sz="4400"/>
              <a:t>Dataset Overview</a:t>
            </a:r>
            <a:endParaRPr sz="4400"/>
          </a:p>
        </p:txBody>
      </p:sp>
      <p:graphicFrame>
        <p:nvGraphicFramePr>
          <p:cNvPr id="379" name="Google Shape;379;p49"/>
          <p:cNvGraphicFramePr/>
          <p:nvPr/>
        </p:nvGraphicFramePr>
        <p:xfrm>
          <a:off x="283850" y="1044375"/>
          <a:ext cx="3000000" cy="3000000"/>
        </p:xfrm>
        <a:graphic>
          <a:graphicData uri="http://schemas.openxmlformats.org/drawingml/2006/table">
            <a:tbl>
              <a:tblPr>
                <a:noFill/>
                <a:tableStyleId>{D72AD74E-198E-481B-9957-9AAFB6DA0A3A}</a:tableStyleId>
              </a:tblPr>
              <a:tblGrid>
                <a:gridCol w="1386900"/>
              </a:tblGrid>
              <a:tr h="364225">
                <a:tc>
                  <a:txBody>
                    <a:bodyPr/>
                    <a:lstStyle/>
                    <a:p>
                      <a:pPr indent="0" lvl="0" marL="0" rtl="0" algn="ctr">
                        <a:spcBef>
                          <a:spcPts val="0"/>
                        </a:spcBef>
                        <a:spcAft>
                          <a:spcPts val="0"/>
                        </a:spcAft>
                        <a:buNone/>
                      </a:pPr>
                      <a:r>
                        <a:rPr lang="en"/>
                        <a:t>total_rows</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4225">
                <a:tc>
                  <a:txBody>
                    <a:bodyPr/>
                    <a:lstStyle/>
                    <a:p>
                      <a:pPr indent="0" lvl="0" marL="0" rtl="0" algn="ctr">
                        <a:spcBef>
                          <a:spcPts val="0"/>
                        </a:spcBef>
                        <a:spcAft>
                          <a:spcPts val="0"/>
                        </a:spcAft>
                        <a:buNone/>
                      </a:pPr>
                      <a:r>
                        <a:rPr lang="en"/>
                        <a:t>11916662</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380" name="Google Shape;380;p49"/>
          <p:cNvSpPr/>
          <p:nvPr/>
        </p:nvSpPr>
        <p:spPr>
          <a:xfrm flipH="1" rot="10341286">
            <a:off x="1273498" y="2123197"/>
            <a:ext cx="1077881" cy="1653329"/>
          </a:xfrm>
          <a:prstGeom prst="bentArrow">
            <a:avLst>
              <a:gd fmla="val 25427" name="adj1"/>
              <a:gd fmla="val 27122" name="adj2"/>
              <a:gd fmla="val 25000" name="adj3"/>
              <a:gd fmla="val 43750" name="adj4"/>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aphicFrame>
        <p:nvGraphicFramePr>
          <p:cNvPr id="381" name="Google Shape;381;p49"/>
          <p:cNvGraphicFramePr/>
          <p:nvPr/>
        </p:nvGraphicFramePr>
        <p:xfrm>
          <a:off x="6708750" y="716775"/>
          <a:ext cx="3000000" cy="3000000"/>
        </p:xfrm>
        <a:graphic>
          <a:graphicData uri="http://schemas.openxmlformats.org/drawingml/2006/table">
            <a:tbl>
              <a:tblPr>
                <a:noFill/>
                <a:tableStyleId>{D72AD74E-198E-481B-9957-9AAFB6DA0A3A}</a:tableStyleId>
              </a:tblPr>
              <a:tblGrid>
                <a:gridCol w="1116675"/>
                <a:gridCol w="1116675"/>
              </a:tblGrid>
              <a:tr h="262225">
                <a:tc>
                  <a:txBody>
                    <a:bodyPr/>
                    <a:lstStyle/>
                    <a:p>
                      <a:pPr indent="0" lvl="0" marL="0" rtl="0" algn="l">
                        <a:spcBef>
                          <a:spcPts val="0"/>
                        </a:spcBef>
                        <a:spcAft>
                          <a:spcPts val="0"/>
                        </a:spcAft>
                        <a:buNone/>
                      </a:pPr>
                      <a:r>
                        <a:rPr lang="en"/>
                        <a:t>month</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ride_count</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January</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6405027</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February</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5485369</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March</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12</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April</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4</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May</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9</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June</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1</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62225">
                <a:tc>
                  <a:txBody>
                    <a:bodyPr/>
                    <a:lstStyle/>
                    <a:p>
                      <a:pPr indent="0" lvl="0" marL="0" rtl="0" algn="l">
                        <a:spcBef>
                          <a:spcPts val="0"/>
                        </a:spcBef>
                        <a:spcAft>
                          <a:spcPts val="0"/>
                        </a:spcAft>
                        <a:buNone/>
                      </a:pPr>
                      <a:r>
                        <a:rPr lang="en"/>
                        <a:t>July</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r">
                        <a:spcBef>
                          <a:spcPts val="0"/>
                        </a:spcBef>
                        <a:spcAft>
                          <a:spcPts val="0"/>
                        </a:spcAft>
                        <a:buNone/>
                      </a:pPr>
                      <a:r>
                        <a:rPr lang="en"/>
                        <a:t>26049</a:t>
                      </a:r>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382" name="Google Shape;382;p49"/>
          <p:cNvSpPr/>
          <p:nvPr/>
        </p:nvSpPr>
        <p:spPr>
          <a:xfrm rot="-1136297">
            <a:off x="5216544" y="2302175"/>
            <a:ext cx="1328303" cy="539157"/>
          </a:xfrm>
          <a:prstGeom prst="rightArrow">
            <a:avLst>
              <a:gd fmla="val 50000" name="adj1"/>
              <a:gd fmla="val 5000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6" name="Shape 386"/>
        <p:cNvGrpSpPr/>
        <p:nvPr/>
      </p:nvGrpSpPr>
      <p:grpSpPr>
        <a:xfrm>
          <a:off x="0" y="0"/>
          <a:ext cx="0" cy="0"/>
          <a:chOff x="0" y="0"/>
          <a:chExt cx="0" cy="0"/>
        </a:xfrm>
      </p:grpSpPr>
      <p:sp>
        <p:nvSpPr>
          <p:cNvPr id="387" name="Google Shape;387;p50"/>
          <p:cNvSpPr/>
          <p:nvPr/>
        </p:nvSpPr>
        <p:spPr>
          <a:xfrm rot="-2361909">
            <a:off x="4263750" y="2483634"/>
            <a:ext cx="7425501" cy="5191985"/>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8" name="Google Shape;388;p50"/>
          <p:cNvSpPr txBox="1"/>
          <p:nvPr>
            <p:ph type="title"/>
          </p:nvPr>
        </p:nvSpPr>
        <p:spPr>
          <a:xfrm>
            <a:off x="284850" y="285900"/>
            <a:ext cx="6423900" cy="5757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4400"/>
              <a:t>Wrangling</a:t>
            </a:r>
            <a:endParaRPr sz="4400"/>
          </a:p>
        </p:txBody>
      </p:sp>
      <p:sp>
        <p:nvSpPr>
          <p:cNvPr id="389" name="Google Shape;389;p50"/>
          <p:cNvSpPr txBox="1"/>
          <p:nvPr/>
        </p:nvSpPr>
        <p:spPr>
          <a:xfrm>
            <a:off x="365425" y="950125"/>
            <a:ext cx="8450700" cy="3608700"/>
          </a:xfrm>
          <a:prstGeom prst="rect">
            <a:avLst/>
          </a:prstGeom>
          <a:noFill/>
          <a:ln>
            <a:noFill/>
          </a:ln>
        </p:spPr>
        <p:txBody>
          <a:bodyPr anchorCtr="0" anchor="t" bIns="91425" lIns="91425" spcFirstLastPara="1" rIns="91425" wrap="square" tIns="91425">
            <a:noAutofit/>
          </a:bodyPr>
          <a:lstStyle/>
          <a:p>
            <a:pPr indent="-412750" lvl="0" marL="457200" rtl="0" algn="l">
              <a:spcBef>
                <a:spcPts val="0"/>
              </a:spcBef>
              <a:spcAft>
                <a:spcPts val="0"/>
              </a:spcAft>
              <a:buClr>
                <a:schemeClr val="lt1"/>
              </a:buClr>
              <a:buSzPts val="2900"/>
              <a:buFont typeface="Inter"/>
              <a:buChar char="●"/>
            </a:pPr>
            <a:r>
              <a:rPr b="1" lang="en" sz="1900">
                <a:solidFill>
                  <a:schemeClr val="lt1"/>
                </a:solidFill>
                <a:latin typeface="Inter"/>
                <a:ea typeface="Inter"/>
                <a:cs typeface="Inter"/>
                <a:sym typeface="Inter"/>
              </a:rPr>
              <a:t>Tools:</a:t>
            </a:r>
            <a:r>
              <a:rPr lang="en" sz="1900">
                <a:solidFill>
                  <a:schemeClr val="lt1"/>
                </a:solidFill>
                <a:latin typeface="Inter"/>
                <a:ea typeface="Inter"/>
                <a:cs typeface="Inter"/>
                <a:sym typeface="Inter"/>
              </a:rPr>
              <a:t> DuckDB for large-scale processing (1.08 GB dataset!!)</a:t>
            </a:r>
            <a:endParaRPr sz="1900">
              <a:solidFill>
                <a:schemeClr val="lt1"/>
              </a:solidFill>
              <a:latin typeface="Inter"/>
              <a:ea typeface="Inter"/>
              <a:cs typeface="Inter"/>
              <a:sym typeface="Inter"/>
            </a:endParaRPr>
          </a:p>
          <a:p>
            <a:pPr indent="-412750" lvl="0" marL="457200" rtl="0" algn="l">
              <a:spcBef>
                <a:spcPts val="0"/>
              </a:spcBef>
              <a:spcAft>
                <a:spcPts val="0"/>
              </a:spcAft>
              <a:buClr>
                <a:schemeClr val="lt1"/>
              </a:buClr>
              <a:buSzPts val="2900"/>
              <a:buFont typeface="Inter"/>
              <a:buChar char="●"/>
            </a:pPr>
            <a:r>
              <a:rPr b="1" lang="en" sz="1900">
                <a:solidFill>
                  <a:schemeClr val="lt1"/>
                </a:solidFill>
                <a:latin typeface="Inter"/>
                <a:ea typeface="Inter"/>
                <a:cs typeface="Inter"/>
                <a:sym typeface="Inter"/>
              </a:rPr>
              <a:t>Filtering:</a:t>
            </a:r>
            <a:r>
              <a:rPr lang="en" sz="1900">
                <a:solidFill>
                  <a:schemeClr val="lt1"/>
                </a:solidFill>
                <a:latin typeface="Inter"/>
                <a:ea typeface="Inter"/>
                <a:cs typeface="Inter"/>
                <a:sym typeface="Inter"/>
              </a:rPr>
              <a:t> Extracted Jan-Feb 2020 trips only</a:t>
            </a:r>
            <a:endParaRPr sz="1900">
              <a:solidFill>
                <a:schemeClr val="lt1"/>
              </a:solidFill>
              <a:latin typeface="Inter"/>
              <a:ea typeface="Inter"/>
              <a:cs typeface="Inter"/>
              <a:sym typeface="Inter"/>
            </a:endParaRPr>
          </a:p>
          <a:p>
            <a:pPr indent="-412750" lvl="0" marL="457200" rtl="0" algn="l">
              <a:spcBef>
                <a:spcPts val="0"/>
              </a:spcBef>
              <a:spcAft>
                <a:spcPts val="0"/>
              </a:spcAft>
              <a:buClr>
                <a:schemeClr val="lt1"/>
              </a:buClr>
              <a:buSzPts val="2900"/>
              <a:buFont typeface="Inter"/>
              <a:buChar char="●"/>
            </a:pPr>
            <a:r>
              <a:rPr b="1" lang="en" sz="1900">
                <a:solidFill>
                  <a:schemeClr val="lt1"/>
                </a:solidFill>
                <a:latin typeface="Inter"/>
                <a:ea typeface="Inter"/>
                <a:cs typeface="Inter"/>
                <a:sym typeface="Inter"/>
              </a:rPr>
              <a:t>Quality checks:</a:t>
            </a:r>
            <a:r>
              <a:rPr lang="en" sz="1900">
                <a:solidFill>
                  <a:schemeClr val="lt1"/>
                </a:solidFill>
                <a:latin typeface="Inter"/>
                <a:ea typeface="Inter"/>
                <a:cs typeface="Inter"/>
                <a:sym typeface="Inter"/>
              </a:rPr>
              <a:t> Removed records with missing critical fields (VendorID, pickup/dropoff times, fare amounts)</a:t>
            </a:r>
            <a:endParaRPr sz="1900">
              <a:solidFill>
                <a:schemeClr val="lt1"/>
              </a:solidFill>
              <a:latin typeface="Inter"/>
              <a:ea typeface="Inter"/>
              <a:cs typeface="Inter"/>
              <a:sym typeface="Inter"/>
            </a:endParaRPr>
          </a:p>
          <a:p>
            <a:pPr indent="-412750" lvl="0" marL="457200" rtl="0" algn="l">
              <a:spcBef>
                <a:spcPts val="0"/>
              </a:spcBef>
              <a:spcAft>
                <a:spcPts val="0"/>
              </a:spcAft>
              <a:buClr>
                <a:schemeClr val="lt1"/>
              </a:buClr>
              <a:buSzPts val="2900"/>
              <a:buFont typeface="Inter"/>
              <a:buChar char="●"/>
            </a:pPr>
            <a:r>
              <a:rPr b="1" lang="en" sz="1900">
                <a:solidFill>
                  <a:schemeClr val="lt1"/>
                </a:solidFill>
                <a:latin typeface="Inter"/>
                <a:ea typeface="Inter"/>
                <a:cs typeface="Inter"/>
                <a:sym typeface="Inter"/>
              </a:rPr>
              <a:t>Enrichment:</a:t>
            </a:r>
            <a:r>
              <a:rPr lang="en" sz="1900">
                <a:solidFill>
                  <a:schemeClr val="lt1"/>
                </a:solidFill>
                <a:latin typeface="Inter"/>
                <a:ea typeface="Inter"/>
                <a:cs typeface="Inter"/>
                <a:sym typeface="Inter"/>
              </a:rPr>
              <a:t> Merged with NYC Taxi Zone Lookup to add borough and zone names</a:t>
            </a:r>
            <a:endParaRPr sz="1900">
              <a:solidFill>
                <a:schemeClr val="lt1"/>
              </a:solidFill>
              <a:latin typeface="Inter"/>
              <a:ea typeface="Inter"/>
              <a:cs typeface="Inter"/>
              <a:sym typeface="Inter"/>
            </a:endParaRPr>
          </a:p>
          <a:p>
            <a:pPr indent="-412750" lvl="0" marL="457200" rtl="0" algn="l">
              <a:spcBef>
                <a:spcPts val="0"/>
              </a:spcBef>
              <a:spcAft>
                <a:spcPts val="0"/>
              </a:spcAft>
              <a:buClr>
                <a:schemeClr val="lt1"/>
              </a:buClr>
              <a:buSzPts val="2900"/>
              <a:buFont typeface="Inter"/>
              <a:buChar char="●"/>
            </a:pPr>
            <a:r>
              <a:rPr b="1" lang="en" sz="1900">
                <a:solidFill>
                  <a:schemeClr val="lt1"/>
                </a:solidFill>
                <a:latin typeface="Inter"/>
                <a:ea typeface="Inter"/>
                <a:cs typeface="Inter"/>
                <a:sym typeface="Inter"/>
              </a:rPr>
              <a:t>Result:</a:t>
            </a:r>
            <a:r>
              <a:rPr lang="en" sz="1900">
                <a:solidFill>
                  <a:schemeClr val="lt1"/>
                </a:solidFill>
                <a:latin typeface="Inter"/>
                <a:ea typeface="Inter"/>
                <a:cs typeface="Inter"/>
                <a:sym typeface="Inter"/>
              </a:rPr>
              <a:t> Clean, enriched dataset ready for dimensional modeling</a:t>
            </a:r>
            <a:endParaRPr sz="1900">
              <a:solidFill>
                <a:schemeClr val="lt1"/>
              </a:solidFill>
              <a:latin typeface="Inter"/>
              <a:ea typeface="Inter"/>
              <a:cs typeface="Inter"/>
              <a:sym typeface="Inter"/>
            </a:endParaRPr>
          </a:p>
          <a:p>
            <a:pPr indent="0" lvl="0" marL="457200" rtl="0" algn="l">
              <a:spcBef>
                <a:spcPts val="0"/>
              </a:spcBef>
              <a:spcAft>
                <a:spcPts val="0"/>
              </a:spcAft>
              <a:buNone/>
            </a:pPr>
            <a:r>
              <a:t/>
            </a:r>
            <a:endParaRPr sz="1900">
              <a:solidFill>
                <a:schemeClr val="lt1"/>
              </a:solidFill>
              <a:latin typeface="Inter"/>
              <a:ea typeface="Inter"/>
              <a:cs typeface="Inter"/>
              <a:sym typeface="Inter"/>
            </a:endParaRPr>
          </a:p>
          <a:p>
            <a:pPr indent="0" lvl="0" marL="0" rtl="0" algn="l">
              <a:spcBef>
                <a:spcPts val="0"/>
              </a:spcBef>
              <a:spcAft>
                <a:spcPts val="0"/>
              </a:spcAft>
              <a:buNone/>
            </a:pPr>
            <a:r>
              <a:t/>
            </a:r>
            <a:endParaRPr sz="1000">
              <a:solidFill>
                <a:schemeClr val="lt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1"/>
          <p:cNvSpPr txBox="1"/>
          <p:nvPr>
            <p:ph type="title"/>
          </p:nvPr>
        </p:nvSpPr>
        <p:spPr>
          <a:xfrm>
            <a:off x="284850" y="285900"/>
            <a:ext cx="64239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Star Schema Design</a:t>
            </a:r>
            <a:endParaRPr/>
          </a:p>
        </p:txBody>
      </p:sp>
      <p:sp>
        <p:nvSpPr>
          <p:cNvPr id="395" name="Google Shape;395;p51"/>
          <p:cNvSpPr txBox="1"/>
          <p:nvPr/>
        </p:nvSpPr>
        <p:spPr>
          <a:xfrm>
            <a:off x="177300" y="756900"/>
            <a:ext cx="4558800" cy="4008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lt1"/>
              </a:buClr>
              <a:buSzPts val="1600"/>
              <a:buChar char="●"/>
            </a:pPr>
            <a:r>
              <a:rPr b="1" lang="en" sz="1600">
                <a:solidFill>
                  <a:schemeClr val="lt1"/>
                </a:solidFill>
                <a:latin typeface="Inter"/>
                <a:ea typeface="Inter"/>
                <a:cs typeface="Inter"/>
                <a:sym typeface="Inter"/>
              </a:rPr>
              <a:t>Architecture:</a:t>
            </a:r>
            <a:r>
              <a:rPr lang="en" sz="1600">
                <a:solidFill>
                  <a:schemeClr val="lt1"/>
                </a:solidFill>
                <a:latin typeface="Inter"/>
                <a:ea typeface="Inter"/>
                <a:cs typeface="Inter"/>
                <a:sym typeface="Inter"/>
              </a:rPr>
              <a:t> Star schema with 1 fact table + 3 dimension tables</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b="1" lang="en" sz="1600">
                <a:solidFill>
                  <a:schemeClr val="lt1"/>
                </a:solidFill>
                <a:latin typeface="Inter"/>
                <a:ea typeface="Inter"/>
                <a:cs typeface="Inter"/>
                <a:sym typeface="Inter"/>
              </a:rPr>
              <a:t>Fact Table (fact_trips):</a:t>
            </a:r>
            <a:endParaRPr b="1" sz="1600">
              <a:solidFill>
                <a:schemeClr val="lt1"/>
              </a:solidFill>
              <a:latin typeface="Inter"/>
              <a:ea typeface="Inter"/>
              <a:cs typeface="Inter"/>
              <a:sym typeface="Inter"/>
            </a:endParaRPr>
          </a:p>
          <a:p>
            <a:pPr indent="-330200" lvl="1" marL="9144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Grain: One row per taxi trip</a:t>
            </a:r>
            <a:endParaRPr sz="1600">
              <a:solidFill>
                <a:schemeClr val="lt1"/>
              </a:solidFill>
              <a:latin typeface="Inter"/>
              <a:ea typeface="Inter"/>
              <a:cs typeface="Inter"/>
              <a:sym typeface="Inter"/>
            </a:endParaRPr>
          </a:p>
          <a:p>
            <a:pPr indent="-330200" lvl="1" marL="9144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Measures: trip_distance, passenger_count, fare_amount, tip_amount, total_amount, extra, Mta_tax, Tolls_amount, Improvement_surcharge, congestion_surcharge</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b="1" lang="en" sz="1600">
                <a:solidFill>
                  <a:schemeClr val="lt1"/>
                </a:solidFill>
                <a:latin typeface="Inter"/>
                <a:ea typeface="Inter"/>
                <a:cs typeface="Inter"/>
                <a:sym typeface="Inter"/>
              </a:rPr>
              <a:t>Dimension Tables:</a:t>
            </a:r>
            <a:endParaRPr b="1" sz="1600">
              <a:solidFill>
                <a:schemeClr val="lt1"/>
              </a:solidFill>
              <a:latin typeface="Inter"/>
              <a:ea typeface="Inter"/>
              <a:cs typeface="Inter"/>
              <a:sym typeface="Inter"/>
            </a:endParaRPr>
          </a:p>
          <a:p>
            <a:pPr indent="-330200" lvl="1" marL="9144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dim_location (265 zones)</a:t>
            </a:r>
            <a:endParaRPr sz="1600">
              <a:solidFill>
                <a:schemeClr val="lt1"/>
              </a:solidFill>
              <a:latin typeface="Inter"/>
              <a:ea typeface="Inter"/>
              <a:cs typeface="Inter"/>
              <a:sym typeface="Inter"/>
            </a:endParaRPr>
          </a:p>
          <a:p>
            <a:pPr indent="-330200" lvl="1" marL="9144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dim_datetime (unique timestamps)</a:t>
            </a:r>
            <a:endParaRPr sz="1600">
              <a:solidFill>
                <a:schemeClr val="lt1"/>
              </a:solidFill>
              <a:latin typeface="Inter"/>
              <a:ea typeface="Inter"/>
              <a:cs typeface="Inter"/>
              <a:sym typeface="Inter"/>
            </a:endParaRPr>
          </a:p>
          <a:p>
            <a:pPr indent="-330200" lvl="1" marL="914400" rtl="0" algn="l">
              <a:lnSpc>
                <a:spcPct val="115000"/>
              </a:lnSpc>
              <a:spcBef>
                <a:spcPts val="0"/>
              </a:spcBef>
              <a:spcAft>
                <a:spcPts val="0"/>
              </a:spcAft>
              <a:buClr>
                <a:schemeClr val="lt1"/>
              </a:buClr>
              <a:buSzPts val="1600"/>
              <a:buFont typeface="Inter"/>
              <a:buChar char="○"/>
            </a:pPr>
            <a:r>
              <a:rPr lang="en" sz="1600">
                <a:solidFill>
                  <a:schemeClr val="lt1"/>
                </a:solidFill>
                <a:latin typeface="Inter"/>
                <a:ea typeface="Inter"/>
                <a:cs typeface="Inter"/>
                <a:sym typeface="Inter"/>
              </a:rPr>
              <a:t>dim_payment_type (6 types)</a:t>
            </a:r>
            <a:endParaRPr sz="1600">
              <a:solidFill>
                <a:schemeClr val="lt1"/>
              </a:solidFill>
              <a:latin typeface="Inter"/>
              <a:ea typeface="Inter"/>
              <a:cs typeface="Inter"/>
              <a:sym typeface="Inter"/>
            </a:endParaRPr>
          </a:p>
          <a:p>
            <a:pPr indent="0" lvl="0" marL="914400" rtl="0" algn="l">
              <a:lnSpc>
                <a:spcPct val="115000"/>
              </a:lnSpc>
              <a:spcBef>
                <a:spcPts val="1200"/>
              </a:spcBef>
              <a:spcAft>
                <a:spcPts val="0"/>
              </a:spcAft>
              <a:buNone/>
            </a:pPr>
            <a:r>
              <a:t/>
            </a:r>
            <a:endParaRPr sz="1600">
              <a:solidFill>
                <a:schemeClr val="lt1"/>
              </a:solidFill>
              <a:latin typeface="Inter"/>
              <a:ea typeface="Inter"/>
              <a:cs typeface="Inter"/>
              <a:sym typeface="Inter"/>
            </a:endParaRPr>
          </a:p>
          <a:p>
            <a:pPr indent="0" lvl="0" marL="0" rtl="0" algn="l">
              <a:spcBef>
                <a:spcPts val="1200"/>
              </a:spcBef>
              <a:spcAft>
                <a:spcPts val="0"/>
              </a:spcAft>
              <a:buNone/>
            </a:pPr>
            <a:r>
              <a:t/>
            </a:r>
            <a:endParaRPr sz="1200">
              <a:solidFill>
                <a:schemeClr val="lt1"/>
              </a:solidFill>
              <a:latin typeface="Inter"/>
              <a:ea typeface="Inter"/>
              <a:cs typeface="Inter"/>
              <a:sym typeface="Inter"/>
            </a:endParaRPr>
          </a:p>
        </p:txBody>
      </p:sp>
      <p:sp>
        <p:nvSpPr>
          <p:cNvPr id="396" name="Google Shape;396;p51"/>
          <p:cNvSpPr txBox="1"/>
          <p:nvPr/>
        </p:nvSpPr>
        <p:spPr>
          <a:xfrm>
            <a:off x="4730850" y="970575"/>
            <a:ext cx="4045200" cy="388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pic>
        <p:nvPicPr>
          <p:cNvPr id="397" name="Google Shape;397;p51"/>
          <p:cNvPicPr preferRelativeResize="0"/>
          <p:nvPr/>
        </p:nvPicPr>
        <p:blipFill>
          <a:blip r:embed="rId3">
            <a:alphaModFix/>
          </a:blip>
          <a:stretch>
            <a:fillRect/>
          </a:stretch>
        </p:blipFill>
        <p:spPr>
          <a:xfrm>
            <a:off x="4629662" y="756900"/>
            <a:ext cx="4344774" cy="41916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2"/>
          <p:cNvSpPr txBox="1"/>
          <p:nvPr>
            <p:ph type="title"/>
          </p:nvPr>
        </p:nvSpPr>
        <p:spPr>
          <a:xfrm>
            <a:off x="284850" y="285900"/>
            <a:ext cx="8159700" cy="7851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Why Not Two Location Dimensions? (Pickup vs </a:t>
            </a:r>
            <a:r>
              <a:rPr lang="en" sz="3000"/>
              <a:t>Drop Off</a:t>
            </a:r>
            <a:r>
              <a:rPr lang="en" sz="3000"/>
              <a:t>)</a:t>
            </a:r>
            <a:endParaRPr sz="3000"/>
          </a:p>
        </p:txBody>
      </p:sp>
      <p:sp>
        <p:nvSpPr>
          <p:cNvPr id="403" name="Google Shape;403;p52"/>
          <p:cNvSpPr txBox="1"/>
          <p:nvPr/>
        </p:nvSpPr>
        <p:spPr>
          <a:xfrm>
            <a:off x="354525" y="1301850"/>
            <a:ext cx="17400" cy="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
        <p:nvSpPr>
          <p:cNvPr id="404" name="Google Shape;404;p52"/>
          <p:cNvSpPr txBox="1"/>
          <p:nvPr/>
        </p:nvSpPr>
        <p:spPr>
          <a:xfrm>
            <a:off x="371925" y="1423900"/>
            <a:ext cx="331200" cy="7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
        <p:nvSpPr>
          <p:cNvPr id="405" name="Google Shape;405;p52"/>
          <p:cNvSpPr txBox="1"/>
          <p:nvPr/>
        </p:nvSpPr>
        <p:spPr>
          <a:xfrm>
            <a:off x="243525" y="1149300"/>
            <a:ext cx="8537100" cy="15852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1200"/>
              </a:spcBef>
              <a:spcAft>
                <a:spcPts val="0"/>
              </a:spcAft>
              <a:buClr>
                <a:schemeClr val="lt1"/>
              </a:buClr>
              <a:buSzPts val="1600"/>
              <a:buChar char="●"/>
            </a:pPr>
            <a:r>
              <a:rPr lang="en" sz="1600">
                <a:solidFill>
                  <a:schemeClr val="lt1"/>
                </a:solidFill>
                <a:latin typeface="Inter"/>
                <a:ea typeface="Inter"/>
                <a:cs typeface="Inter"/>
                <a:sym typeface="Inter"/>
              </a:rPr>
              <a:t>Design Choice: One Location Dimension</a:t>
            </a:r>
            <a:endParaRPr sz="1600">
              <a:solidFill>
                <a:schemeClr val="lt1"/>
              </a:solidFill>
              <a:latin typeface="Inter"/>
              <a:ea typeface="Inter"/>
              <a:cs typeface="Inter"/>
              <a:sym typeface="Inter"/>
            </a:endParaRPr>
          </a:p>
          <a:p>
            <a:pPr indent="-330200" lvl="0" marL="457200" rtl="0" algn="l">
              <a:lnSpc>
                <a:spcPct val="115000"/>
              </a:lnSpc>
              <a:spcBef>
                <a:spcPts val="0"/>
              </a:spcBef>
              <a:spcAft>
                <a:spcPts val="0"/>
              </a:spcAft>
              <a:buClr>
                <a:schemeClr val="lt1"/>
              </a:buClr>
              <a:buSzPts val="1600"/>
              <a:buFont typeface="Inter"/>
              <a:buChar char="●"/>
            </a:pPr>
            <a:r>
              <a:rPr lang="en" sz="1600">
                <a:solidFill>
                  <a:schemeClr val="lt1"/>
                </a:solidFill>
              </a:rPr>
              <a:t>Both pickup and dropoff reference the </a:t>
            </a:r>
            <a:r>
              <a:rPr b="1" lang="en" sz="1600">
                <a:solidFill>
                  <a:schemeClr val="lt1"/>
                </a:solidFill>
              </a:rPr>
              <a:t>same</a:t>
            </a:r>
            <a:r>
              <a:rPr lang="en" sz="1600">
                <a:solidFill>
                  <a:schemeClr val="lt1"/>
                </a:solidFill>
              </a:rPr>
              <a:t> dim_location</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Avoids duplicate dimensions with identical attributes</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Enables geographic comparisons (pickup vs dropoff)</a:t>
            </a:r>
            <a:endParaRPr sz="1600">
              <a:solidFill>
                <a:schemeClr val="lt1"/>
              </a:solidFill>
            </a:endParaRPr>
          </a:p>
          <a:p>
            <a:pPr indent="-330200" lvl="0" marL="457200" rtl="0" algn="l">
              <a:lnSpc>
                <a:spcPct val="115000"/>
              </a:lnSpc>
              <a:spcBef>
                <a:spcPts val="0"/>
              </a:spcBef>
              <a:spcAft>
                <a:spcPts val="0"/>
              </a:spcAft>
              <a:buClr>
                <a:schemeClr val="lt1"/>
              </a:buClr>
              <a:buSzPts val="1600"/>
              <a:buChar char="●"/>
            </a:pPr>
            <a:r>
              <a:rPr lang="en" sz="1600">
                <a:solidFill>
                  <a:schemeClr val="lt1"/>
                </a:solidFill>
              </a:rPr>
              <a:t>Reduces storage and simplifies ETL</a:t>
            </a:r>
            <a:endParaRPr sz="1600">
              <a:solidFill>
                <a:schemeClr val="lt1"/>
              </a:solidFill>
            </a:endParaRPr>
          </a:p>
          <a:p>
            <a:pPr indent="0" lvl="0" marL="0" rtl="0" algn="l">
              <a:lnSpc>
                <a:spcPct val="115000"/>
              </a:lnSpc>
              <a:spcBef>
                <a:spcPts val="1200"/>
              </a:spcBef>
              <a:spcAft>
                <a:spcPts val="0"/>
              </a:spcAft>
              <a:buNone/>
            </a:pPr>
            <a:r>
              <a:t/>
            </a:r>
            <a:endParaRPr sz="1600">
              <a:solidFill>
                <a:schemeClr val="lt1"/>
              </a:solidFill>
            </a:endParaRPr>
          </a:p>
          <a:p>
            <a:pPr indent="0" lvl="0" marL="0" rtl="0" algn="l">
              <a:lnSpc>
                <a:spcPct val="115000"/>
              </a:lnSpc>
              <a:spcBef>
                <a:spcPts val="1200"/>
              </a:spcBef>
              <a:spcAft>
                <a:spcPts val="0"/>
              </a:spcAft>
              <a:buNone/>
            </a:pPr>
            <a:r>
              <a:t/>
            </a:r>
            <a:endParaRPr sz="1600">
              <a:solidFill>
                <a:schemeClr val="lt1"/>
              </a:solidFill>
            </a:endParaRPr>
          </a:p>
          <a:p>
            <a:pPr indent="0" lvl="0" marL="457200" rtl="0" algn="l">
              <a:lnSpc>
                <a:spcPct val="115000"/>
              </a:lnSpc>
              <a:spcBef>
                <a:spcPts val="1200"/>
              </a:spcBef>
              <a:spcAft>
                <a:spcPts val="1200"/>
              </a:spcAft>
              <a:buNone/>
            </a:pPr>
            <a:r>
              <a:t/>
            </a:r>
            <a:endParaRPr sz="1100">
              <a:solidFill>
                <a:schemeClr val="lt1"/>
              </a:solidFill>
            </a:endParaRPr>
          </a:p>
        </p:txBody>
      </p:sp>
      <p:sp>
        <p:nvSpPr>
          <p:cNvPr id="406" name="Google Shape;406;p52"/>
          <p:cNvSpPr txBox="1"/>
          <p:nvPr/>
        </p:nvSpPr>
        <p:spPr>
          <a:xfrm>
            <a:off x="284850" y="2734500"/>
            <a:ext cx="8159700" cy="680400"/>
          </a:xfrm>
          <a:prstGeom prst="rect">
            <a:avLst/>
          </a:prstGeom>
          <a:noFill/>
          <a:ln>
            <a:noFill/>
          </a:ln>
        </p:spPr>
        <p:txBody>
          <a:bodyPr anchorCtr="0" anchor="t" bIns="91425" lIns="91425" spcFirstLastPara="1" rIns="91425" wrap="square" tIns="91425">
            <a:noAutofit/>
          </a:bodyPr>
          <a:lstStyle/>
          <a:p>
            <a:pPr indent="0" lvl="0" marL="0" rtl="0" algn="l">
              <a:lnSpc>
                <a:spcPct val="85000"/>
              </a:lnSpc>
              <a:spcBef>
                <a:spcPts val="0"/>
              </a:spcBef>
              <a:spcAft>
                <a:spcPts val="0"/>
              </a:spcAft>
              <a:buClr>
                <a:schemeClr val="lt1"/>
              </a:buClr>
              <a:buSzPts val="1100"/>
              <a:buFont typeface="Arial"/>
              <a:buNone/>
            </a:pPr>
            <a:r>
              <a:rPr lang="en" sz="3000">
                <a:solidFill>
                  <a:schemeClr val="lt1"/>
                </a:solidFill>
                <a:latin typeface="Inter"/>
                <a:ea typeface="Inter"/>
                <a:cs typeface="Inter"/>
                <a:sym typeface="Inter"/>
              </a:rPr>
              <a:t>What Analysis Does This Model Support?</a:t>
            </a:r>
            <a:endParaRPr sz="600">
              <a:solidFill>
                <a:schemeClr val="lt1"/>
              </a:solidFill>
              <a:latin typeface="Inter"/>
              <a:ea typeface="Inter"/>
              <a:cs typeface="Inter"/>
              <a:sym typeface="Inter"/>
            </a:endParaRPr>
          </a:p>
        </p:txBody>
      </p:sp>
      <p:sp>
        <p:nvSpPr>
          <p:cNvPr id="407" name="Google Shape;407;p52"/>
          <p:cNvSpPr txBox="1"/>
          <p:nvPr/>
        </p:nvSpPr>
        <p:spPr>
          <a:xfrm>
            <a:off x="371925" y="3277050"/>
            <a:ext cx="4140000" cy="1326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Clr>
                <a:schemeClr val="lt1"/>
              </a:buClr>
              <a:buSzPts val="2000"/>
              <a:buChar char="●"/>
            </a:pPr>
            <a:r>
              <a:rPr lang="en" sz="1600">
                <a:solidFill>
                  <a:schemeClr val="lt1"/>
                </a:solidFill>
                <a:latin typeface="Inter"/>
                <a:ea typeface="Inter"/>
                <a:cs typeface="Inter"/>
                <a:sym typeface="Inter"/>
              </a:rPr>
              <a:t>Revenue trends by hour/day/month</a:t>
            </a:r>
            <a:endParaRPr sz="1600">
              <a:solidFill>
                <a:schemeClr val="lt1"/>
              </a:solidFill>
              <a:latin typeface="Inter"/>
              <a:ea typeface="Inter"/>
              <a:cs typeface="Inter"/>
              <a:sym typeface="Inter"/>
            </a:endParaRPr>
          </a:p>
          <a:p>
            <a:pPr indent="-355600" lvl="0" marL="457200" rtl="0" algn="l">
              <a:lnSpc>
                <a:spcPct val="115000"/>
              </a:lnSpc>
              <a:spcBef>
                <a:spcPts val="0"/>
              </a:spcBef>
              <a:spcAft>
                <a:spcPts val="0"/>
              </a:spcAft>
              <a:buClr>
                <a:schemeClr val="lt1"/>
              </a:buClr>
              <a:buSzPts val="2000"/>
              <a:buChar char="●"/>
            </a:pPr>
            <a:r>
              <a:rPr lang="en" sz="1600">
                <a:solidFill>
                  <a:schemeClr val="lt1"/>
                </a:solidFill>
                <a:latin typeface="Inter"/>
                <a:ea typeface="Inter"/>
                <a:cs typeface="Inter"/>
                <a:sym typeface="Inter"/>
              </a:rPr>
              <a:t>Location-based demand patterns</a:t>
            </a:r>
            <a:endParaRPr sz="1600">
              <a:solidFill>
                <a:schemeClr val="lt1"/>
              </a:solidFill>
              <a:latin typeface="Inter"/>
              <a:ea typeface="Inter"/>
              <a:cs typeface="Inter"/>
              <a:sym typeface="Inter"/>
            </a:endParaRPr>
          </a:p>
          <a:p>
            <a:pPr indent="-355600" lvl="0" marL="457200" rtl="0" algn="l">
              <a:lnSpc>
                <a:spcPct val="115000"/>
              </a:lnSpc>
              <a:spcBef>
                <a:spcPts val="0"/>
              </a:spcBef>
              <a:spcAft>
                <a:spcPts val="0"/>
              </a:spcAft>
              <a:buClr>
                <a:schemeClr val="lt1"/>
              </a:buClr>
              <a:buSzPts val="2000"/>
              <a:buChar char="●"/>
            </a:pPr>
            <a:r>
              <a:rPr lang="en" sz="1600">
                <a:solidFill>
                  <a:schemeClr val="lt1"/>
                </a:solidFill>
                <a:latin typeface="Inter"/>
                <a:ea typeface="Inter"/>
                <a:cs typeface="Inter"/>
                <a:sym typeface="Inter"/>
              </a:rPr>
              <a:t>Airport vs. city demand quality</a:t>
            </a:r>
            <a:endParaRPr sz="1600">
              <a:solidFill>
                <a:schemeClr val="lt1"/>
              </a:solidFill>
              <a:latin typeface="Inter"/>
              <a:ea typeface="Inter"/>
              <a:cs typeface="Inter"/>
              <a:sym typeface="Inter"/>
            </a:endParaRPr>
          </a:p>
          <a:p>
            <a:pPr indent="0" lvl="0" marL="0" rtl="0" algn="l">
              <a:lnSpc>
                <a:spcPct val="115000"/>
              </a:lnSpc>
              <a:spcBef>
                <a:spcPts val="1200"/>
              </a:spcBef>
              <a:spcAft>
                <a:spcPts val="1200"/>
              </a:spcAft>
              <a:buNone/>
            </a:pPr>
            <a:r>
              <a:t/>
            </a:r>
            <a:endParaRPr sz="600">
              <a:solidFill>
                <a:schemeClr val="lt1"/>
              </a:solidFill>
              <a:latin typeface="Inter"/>
              <a:ea typeface="Inter"/>
              <a:cs typeface="Inter"/>
              <a:sym typeface="Inter"/>
            </a:endParaRPr>
          </a:p>
        </p:txBody>
      </p:sp>
      <p:sp>
        <p:nvSpPr>
          <p:cNvPr id="408" name="Google Shape;408;p52"/>
          <p:cNvSpPr txBox="1"/>
          <p:nvPr/>
        </p:nvSpPr>
        <p:spPr>
          <a:xfrm>
            <a:off x="4828950" y="3277050"/>
            <a:ext cx="3946200" cy="1326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Clr>
                <a:schemeClr val="lt1"/>
              </a:buClr>
              <a:buSzPts val="2000"/>
              <a:buChar char="●"/>
            </a:pPr>
            <a:r>
              <a:rPr lang="en" sz="1600">
                <a:solidFill>
                  <a:schemeClr val="lt1"/>
                </a:solidFill>
                <a:latin typeface="Inter"/>
                <a:ea typeface="Inter"/>
                <a:cs typeface="Inter"/>
                <a:sym typeface="Inter"/>
              </a:rPr>
              <a:t>Tip behavior by payment type</a:t>
            </a:r>
            <a:endParaRPr sz="1600">
              <a:solidFill>
                <a:schemeClr val="lt1"/>
              </a:solidFill>
              <a:latin typeface="Inter"/>
              <a:ea typeface="Inter"/>
              <a:cs typeface="Inter"/>
              <a:sym typeface="Inter"/>
            </a:endParaRPr>
          </a:p>
          <a:p>
            <a:pPr indent="-355600" lvl="0" marL="457200" rtl="0" algn="l">
              <a:lnSpc>
                <a:spcPct val="115000"/>
              </a:lnSpc>
              <a:spcBef>
                <a:spcPts val="0"/>
              </a:spcBef>
              <a:spcAft>
                <a:spcPts val="0"/>
              </a:spcAft>
              <a:buClr>
                <a:schemeClr val="lt1"/>
              </a:buClr>
              <a:buSzPts val="2000"/>
              <a:buChar char="●"/>
            </a:pPr>
            <a:r>
              <a:rPr lang="en" sz="1600">
                <a:solidFill>
                  <a:schemeClr val="lt1"/>
                </a:solidFill>
                <a:latin typeface="Inter"/>
                <a:ea typeface="Inter"/>
                <a:cs typeface="Inter"/>
                <a:sym typeface="Inter"/>
              </a:rPr>
              <a:t>Fee impact on profitability</a:t>
            </a:r>
            <a:endParaRPr sz="1600">
              <a:solidFill>
                <a:schemeClr val="lt1"/>
              </a:solidFill>
              <a:latin typeface="Inter"/>
              <a:ea typeface="Inter"/>
              <a:cs typeface="Inter"/>
              <a:sym typeface="Inter"/>
            </a:endParaRPr>
          </a:p>
          <a:p>
            <a:pPr indent="-355600" lvl="0" marL="457200" rtl="0" algn="l">
              <a:lnSpc>
                <a:spcPct val="115000"/>
              </a:lnSpc>
              <a:spcBef>
                <a:spcPts val="0"/>
              </a:spcBef>
              <a:spcAft>
                <a:spcPts val="0"/>
              </a:spcAft>
              <a:buClr>
                <a:schemeClr val="lt1"/>
              </a:buClr>
              <a:buSzPts val="2000"/>
              <a:buChar char="●"/>
            </a:pPr>
            <a:r>
              <a:rPr lang="en" sz="1600">
                <a:solidFill>
                  <a:schemeClr val="lt1"/>
                </a:solidFill>
                <a:latin typeface="Inter"/>
                <a:ea typeface="Inter"/>
                <a:cs typeface="Inter"/>
                <a:sym typeface="Inter"/>
              </a:rPr>
              <a:t>Peak vs. off-peak trip characteristics</a:t>
            </a:r>
            <a:endParaRPr sz="1200">
              <a:solidFill>
                <a:schemeClr val="lt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53"/>
          <p:cNvSpPr/>
          <p:nvPr/>
        </p:nvSpPr>
        <p:spPr>
          <a:xfrm>
            <a:off x="8019525" y="-2790000"/>
            <a:ext cx="4510800" cy="42789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4" name="Google Shape;414;p53"/>
          <p:cNvSpPr/>
          <p:nvPr/>
        </p:nvSpPr>
        <p:spPr>
          <a:xfrm>
            <a:off x="-3240275" y="3432625"/>
            <a:ext cx="4510800" cy="4278900"/>
          </a:xfrm>
          <a:prstGeom prst="ellipse">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15" name="Google Shape;415;p53"/>
          <p:cNvSpPr txBox="1"/>
          <p:nvPr>
            <p:ph type="title"/>
          </p:nvPr>
        </p:nvSpPr>
        <p:spPr>
          <a:xfrm>
            <a:off x="284850" y="285900"/>
            <a:ext cx="8611200" cy="36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t>Q</a:t>
            </a:r>
            <a:r>
              <a:rPr lang="en" sz="2800"/>
              <a:t>uestion 1</a:t>
            </a:r>
            <a:r>
              <a:rPr lang="en" sz="2800"/>
              <a:t>: Best Locations for Demand &amp; Earnings</a:t>
            </a:r>
            <a:endParaRPr sz="2800"/>
          </a:p>
        </p:txBody>
      </p:sp>
      <p:sp>
        <p:nvSpPr>
          <p:cNvPr id="416" name="Google Shape;416;p53"/>
          <p:cNvSpPr txBox="1"/>
          <p:nvPr/>
        </p:nvSpPr>
        <p:spPr>
          <a:xfrm>
            <a:off x="2577750" y="4039600"/>
            <a:ext cx="3988500" cy="8187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1200"/>
              </a:spcBef>
              <a:spcAft>
                <a:spcPts val="0"/>
              </a:spcAft>
              <a:buClr>
                <a:schemeClr val="lt1"/>
              </a:buClr>
              <a:buSzPts val="900"/>
              <a:buChar char="●"/>
            </a:pPr>
            <a:r>
              <a:rPr b="1" lang="en" sz="900">
                <a:solidFill>
                  <a:schemeClr val="lt1"/>
                </a:solidFill>
                <a:latin typeface="Inter"/>
                <a:ea typeface="Inter"/>
                <a:cs typeface="Inter"/>
                <a:sym typeface="Inter"/>
              </a:rPr>
              <a:t>High demand:</a:t>
            </a:r>
            <a:r>
              <a:rPr lang="en" sz="900">
                <a:solidFill>
                  <a:schemeClr val="lt1"/>
                </a:solidFill>
                <a:latin typeface="Inter"/>
                <a:ea typeface="Inter"/>
                <a:cs typeface="Inter"/>
                <a:sym typeface="Inter"/>
              </a:rPr>
              <a:t> Upper East Side South, Midtown Center (500K+ trips)</a:t>
            </a:r>
            <a:endParaRPr sz="900">
              <a:solidFill>
                <a:schemeClr val="lt1"/>
              </a:solidFill>
              <a:latin typeface="Inter"/>
              <a:ea typeface="Inter"/>
              <a:cs typeface="Inter"/>
              <a:sym typeface="Inter"/>
            </a:endParaRPr>
          </a:p>
          <a:p>
            <a:pPr indent="-285750" lvl="0" marL="457200" rtl="0" algn="l">
              <a:lnSpc>
                <a:spcPct val="115000"/>
              </a:lnSpc>
              <a:spcBef>
                <a:spcPts val="0"/>
              </a:spcBef>
              <a:spcAft>
                <a:spcPts val="0"/>
              </a:spcAft>
              <a:buClr>
                <a:schemeClr val="lt1"/>
              </a:buClr>
              <a:buSzPts val="900"/>
              <a:buChar char="●"/>
            </a:pPr>
            <a:r>
              <a:rPr b="1" lang="en" sz="900">
                <a:solidFill>
                  <a:schemeClr val="lt1"/>
                </a:solidFill>
                <a:latin typeface="Inter"/>
                <a:ea typeface="Inter"/>
                <a:cs typeface="Inter"/>
                <a:sym typeface="Inter"/>
              </a:rPr>
              <a:t>High earnings: </a:t>
            </a:r>
            <a:r>
              <a:rPr lang="en" sz="900">
                <a:solidFill>
                  <a:schemeClr val="lt1"/>
                </a:solidFill>
                <a:latin typeface="Inter"/>
                <a:ea typeface="Inter"/>
                <a:cs typeface="Inter"/>
                <a:sym typeface="Inter"/>
              </a:rPr>
              <a:t>JFK Airport ($53 avg fare)</a:t>
            </a:r>
            <a:endParaRPr sz="900">
              <a:solidFill>
                <a:schemeClr val="lt1"/>
              </a:solidFill>
              <a:latin typeface="Inter"/>
              <a:ea typeface="Inter"/>
              <a:cs typeface="Inter"/>
              <a:sym typeface="Inter"/>
            </a:endParaRPr>
          </a:p>
          <a:p>
            <a:pPr indent="-285750" lvl="0" marL="457200" rtl="0" algn="l">
              <a:lnSpc>
                <a:spcPct val="115000"/>
              </a:lnSpc>
              <a:spcBef>
                <a:spcPts val="0"/>
              </a:spcBef>
              <a:spcAft>
                <a:spcPts val="0"/>
              </a:spcAft>
              <a:buClr>
                <a:schemeClr val="lt1"/>
              </a:buClr>
              <a:buSzPts val="900"/>
              <a:buChar char="●"/>
            </a:pPr>
            <a:r>
              <a:rPr b="1" lang="en" sz="900">
                <a:solidFill>
                  <a:schemeClr val="lt1"/>
                </a:solidFill>
                <a:latin typeface="Inter"/>
                <a:ea typeface="Inter"/>
                <a:cs typeface="Inter"/>
                <a:sym typeface="Inter"/>
              </a:rPr>
              <a:t>Sweet spot: </a:t>
            </a:r>
            <a:r>
              <a:rPr lang="en" sz="900">
                <a:solidFill>
                  <a:schemeClr val="lt1"/>
                </a:solidFill>
                <a:latin typeface="Inter"/>
                <a:ea typeface="Inter"/>
                <a:cs typeface="Inter"/>
                <a:sym typeface="Inter"/>
              </a:rPr>
              <a:t>Manhattan core zones combine both</a:t>
            </a:r>
            <a:endParaRPr sz="900">
              <a:solidFill>
                <a:schemeClr val="lt1"/>
              </a:solidFill>
              <a:latin typeface="Inter"/>
              <a:ea typeface="Inter"/>
              <a:cs typeface="Inter"/>
              <a:sym typeface="Inter"/>
            </a:endParaRPr>
          </a:p>
          <a:p>
            <a:pPr indent="0" lvl="0" marL="457200" rtl="0" algn="l">
              <a:lnSpc>
                <a:spcPct val="115000"/>
              </a:lnSpc>
              <a:spcBef>
                <a:spcPts val="1200"/>
              </a:spcBef>
              <a:spcAft>
                <a:spcPts val="0"/>
              </a:spcAft>
              <a:buNone/>
            </a:pPr>
            <a:r>
              <a:t/>
            </a:r>
            <a:endParaRPr b="1" sz="2000">
              <a:solidFill>
                <a:schemeClr val="lt1"/>
              </a:solidFill>
              <a:latin typeface="Inter"/>
              <a:ea typeface="Inter"/>
              <a:cs typeface="Inter"/>
              <a:sym typeface="Inter"/>
            </a:endParaRPr>
          </a:p>
          <a:p>
            <a:pPr indent="0" lvl="0" marL="0" rtl="0" algn="l">
              <a:lnSpc>
                <a:spcPct val="115000"/>
              </a:lnSpc>
              <a:spcBef>
                <a:spcPts val="1200"/>
              </a:spcBef>
              <a:spcAft>
                <a:spcPts val="0"/>
              </a:spcAft>
              <a:buNone/>
            </a:pPr>
            <a:r>
              <a:t/>
            </a:r>
            <a:endParaRPr b="1" sz="1600">
              <a:solidFill>
                <a:schemeClr val="lt1"/>
              </a:solidFill>
              <a:latin typeface="Inter"/>
              <a:ea typeface="Inter"/>
              <a:cs typeface="Inter"/>
              <a:sym typeface="Inter"/>
            </a:endParaRPr>
          </a:p>
          <a:p>
            <a:pPr indent="0" lvl="0" marL="0" rtl="0" algn="l">
              <a:spcBef>
                <a:spcPts val="1200"/>
              </a:spcBef>
              <a:spcAft>
                <a:spcPts val="0"/>
              </a:spcAft>
              <a:buNone/>
            </a:pPr>
            <a:r>
              <a:t/>
            </a:r>
            <a:endParaRPr sz="1200">
              <a:solidFill>
                <a:schemeClr val="lt1"/>
              </a:solidFill>
              <a:latin typeface="Inter"/>
              <a:ea typeface="Inter"/>
              <a:cs typeface="Inter"/>
              <a:sym typeface="Inter"/>
            </a:endParaRPr>
          </a:p>
        </p:txBody>
      </p:sp>
      <p:pic>
        <p:nvPicPr>
          <p:cNvPr id="417" name="Google Shape;417;p53" title="Screenshot 2025-12-10 at 6.48.03 PM.png"/>
          <p:cNvPicPr preferRelativeResize="0"/>
          <p:nvPr/>
        </p:nvPicPr>
        <p:blipFill>
          <a:blip r:embed="rId3">
            <a:alphaModFix/>
          </a:blip>
          <a:stretch>
            <a:fillRect/>
          </a:stretch>
        </p:blipFill>
        <p:spPr>
          <a:xfrm>
            <a:off x="475538" y="818207"/>
            <a:ext cx="8073083" cy="3082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p54"/>
          <p:cNvSpPr txBox="1"/>
          <p:nvPr>
            <p:ph type="title"/>
          </p:nvPr>
        </p:nvSpPr>
        <p:spPr>
          <a:xfrm>
            <a:off x="284850" y="285900"/>
            <a:ext cx="8611200" cy="366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2800"/>
              <a:t>Question 3: </a:t>
            </a:r>
            <a:r>
              <a:rPr lang="en" sz="2800"/>
              <a:t>Revenue Lost to Mandatory Fees</a:t>
            </a:r>
            <a:endParaRPr sz="2800"/>
          </a:p>
        </p:txBody>
      </p:sp>
      <p:sp>
        <p:nvSpPr>
          <p:cNvPr id="423" name="Google Shape;423;p54"/>
          <p:cNvSpPr txBox="1"/>
          <p:nvPr/>
        </p:nvSpPr>
        <p:spPr>
          <a:xfrm>
            <a:off x="2577750" y="4039600"/>
            <a:ext cx="3988500" cy="818700"/>
          </a:xfrm>
          <a:prstGeom prst="rect">
            <a:avLst/>
          </a:prstGeom>
          <a:noFill/>
          <a:ln>
            <a:noFill/>
          </a:ln>
        </p:spPr>
        <p:txBody>
          <a:bodyPr anchorCtr="0" anchor="t" bIns="91425" lIns="91425" spcFirstLastPara="1" rIns="91425" wrap="square" tIns="91425">
            <a:noAutofit/>
          </a:bodyPr>
          <a:lstStyle/>
          <a:p>
            <a:pPr indent="-285750" lvl="0" marL="457200" rtl="0" algn="l">
              <a:lnSpc>
                <a:spcPct val="115000"/>
              </a:lnSpc>
              <a:spcBef>
                <a:spcPts val="1200"/>
              </a:spcBef>
              <a:spcAft>
                <a:spcPts val="0"/>
              </a:spcAft>
              <a:buClr>
                <a:schemeClr val="lt1"/>
              </a:buClr>
              <a:buSzPts val="900"/>
              <a:buChar char="●"/>
            </a:pPr>
            <a:r>
              <a:rPr b="1" lang="en" sz="900">
                <a:solidFill>
                  <a:schemeClr val="lt1"/>
                </a:solidFill>
                <a:latin typeface="Inter"/>
                <a:ea typeface="Inter"/>
                <a:cs typeface="Inter"/>
                <a:sym typeface="Inter"/>
              </a:rPr>
              <a:t>Mandatory fees: </a:t>
            </a:r>
            <a:r>
              <a:rPr lang="en" sz="900">
                <a:solidFill>
                  <a:schemeClr val="lt1"/>
                </a:solidFill>
                <a:latin typeface="Inter"/>
                <a:ea typeface="Inter"/>
                <a:cs typeface="Inter"/>
                <a:sym typeface="Inter"/>
              </a:rPr>
              <a:t>15.9% of total revenue</a:t>
            </a:r>
            <a:endParaRPr sz="900">
              <a:solidFill>
                <a:schemeClr val="lt1"/>
              </a:solidFill>
              <a:latin typeface="Inter"/>
              <a:ea typeface="Inter"/>
              <a:cs typeface="Inter"/>
              <a:sym typeface="Inter"/>
            </a:endParaRPr>
          </a:p>
          <a:p>
            <a:pPr indent="-285750" lvl="0" marL="457200" rtl="0" algn="l">
              <a:lnSpc>
                <a:spcPct val="115000"/>
              </a:lnSpc>
              <a:spcBef>
                <a:spcPts val="0"/>
              </a:spcBef>
              <a:spcAft>
                <a:spcPts val="0"/>
              </a:spcAft>
              <a:buClr>
                <a:schemeClr val="lt1"/>
              </a:buClr>
              <a:buSzPts val="900"/>
              <a:buChar char="●"/>
            </a:pPr>
            <a:r>
              <a:rPr b="1" lang="en" sz="900">
                <a:solidFill>
                  <a:schemeClr val="lt1"/>
                </a:solidFill>
                <a:latin typeface="Inter"/>
                <a:ea typeface="Inter"/>
                <a:cs typeface="Inter"/>
                <a:sym typeface="Inter"/>
              </a:rPr>
              <a:t>Congestion surcharge: </a:t>
            </a:r>
            <a:r>
              <a:rPr lang="en" sz="900">
                <a:solidFill>
                  <a:schemeClr val="lt1"/>
                </a:solidFill>
                <a:latin typeface="Inter"/>
                <a:ea typeface="Inter"/>
                <a:cs typeface="Inter"/>
                <a:sym typeface="Inter"/>
              </a:rPr>
              <a:t>Largest component</a:t>
            </a:r>
            <a:endParaRPr sz="900">
              <a:solidFill>
                <a:schemeClr val="lt1"/>
              </a:solidFill>
              <a:latin typeface="Inter"/>
              <a:ea typeface="Inter"/>
              <a:cs typeface="Inter"/>
              <a:sym typeface="Inter"/>
            </a:endParaRPr>
          </a:p>
          <a:p>
            <a:pPr indent="-285750" lvl="0" marL="457200" rtl="0" algn="l">
              <a:lnSpc>
                <a:spcPct val="115000"/>
              </a:lnSpc>
              <a:spcBef>
                <a:spcPts val="0"/>
              </a:spcBef>
              <a:spcAft>
                <a:spcPts val="0"/>
              </a:spcAft>
              <a:buClr>
                <a:schemeClr val="lt1"/>
              </a:buClr>
              <a:buSzPts val="900"/>
              <a:buChar char="●"/>
            </a:pPr>
            <a:r>
              <a:rPr b="1" lang="en" sz="900">
                <a:solidFill>
                  <a:schemeClr val="lt1"/>
                </a:solidFill>
                <a:latin typeface="Inter"/>
                <a:ea typeface="Inter"/>
                <a:cs typeface="Inter"/>
                <a:sym typeface="Inter"/>
              </a:rPr>
              <a:t>Impact: </a:t>
            </a:r>
            <a:r>
              <a:rPr lang="en" sz="900">
                <a:solidFill>
                  <a:schemeClr val="lt1"/>
                </a:solidFill>
                <a:latin typeface="Inter"/>
                <a:ea typeface="Inter"/>
                <a:cs typeface="Inter"/>
                <a:sym typeface="Inter"/>
              </a:rPr>
              <a:t>Significant revenue never reaches drivers</a:t>
            </a:r>
            <a:endParaRPr sz="900">
              <a:solidFill>
                <a:schemeClr val="lt1"/>
              </a:solidFill>
              <a:latin typeface="Inter"/>
              <a:ea typeface="Inter"/>
              <a:cs typeface="Inter"/>
              <a:sym typeface="Inter"/>
            </a:endParaRPr>
          </a:p>
          <a:p>
            <a:pPr indent="0" lvl="0" marL="457200" rtl="0" algn="l">
              <a:lnSpc>
                <a:spcPct val="115000"/>
              </a:lnSpc>
              <a:spcBef>
                <a:spcPts val="1200"/>
              </a:spcBef>
              <a:spcAft>
                <a:spcPts val="0"/>
              </a:spcAft>
              <a:buNone/>
            </a:pPr>
            <a:r>
              <a:t/>
            </a:r>
            <a:endParaRPr b="1" sz="2000">
              <a:solidFill>
                <a:schemeClr val="lt1"/>
              </a:solidFill>
              <a:latin typeface="Inter"/>
              <a:ea typeface="Inter"/>
              <a:cs typeface="Inter"/>
              <a:sym typeface="Inter"/>
            </a:endParaRPr>
          </a:p>
          <a:p>
            <a:pPr indent="0" lvl="0" marL="0" rtl="0" algn="l">
              <a:lnSpc>
                <a:spcPct val="115000"/>
              </a:lnSpc>
              <a:spcBef>
                <a:spcPts val="1200"/>
              </a:spcBef>
              <a:spcAft>
                <a:spcPts val="0"/>
              </a:spcAft>
              <a:buNone/>
            </a:pPr>
            <a:r>
              <a:t/>
            </a:r>
            <a:endParaRPr b="1" sz="1600">
              <a:solidFill>
                <a:schemeClr val="lt1"/>
              </a:solidFill>
              <a:latin typeface="Inter"/>
              <a:ea typeface="Inter"/>
              <a:cs typeface="Inter"/>
              <a:sym typeface="Inter"/>
            </a:endParaRPr>
          </a:p>
          <a:p>
            <a:pPr indent="0" lvl="0" marL="0" rtl="0" algn="l">
              <a:spcBef>
                <a:spcPts val="1200"/>
              </a:spcBef>
              <a:spcAft>
                <a:spcPts val="0"/>
              </a:spcAft>
              <a:buNone/>
            </a:pPr>
            <a:r>
              <a:t/>
            </a:r>
            <a:endParaRPr sz="1200">
              <a:solidFill>
                <a:schemeClr val="lt1"/>
              </a:solidFill>
              <a:latin typeface="Inter"/>
              <a:ea typeface="Inter"/>
              <a:cs typeface="Inter"/>
              <a:sym typeface="Inter"/>
            </a:endParaRPr>
          </a:p>
        </p:txBody>
      </p:sp>
      <p:pic>
        <p:nvPicPr>
          <p:cNvPr id="424" name="Google Shape;424;p54" title="Screenshot 2025-12-10 at 6.52.17 PM.png"/>
          <p:cNvPicPr preferRelativeResize="0"/>
          <p:nvPr/>
        </p:nvPicPr>
        <p:blipFill>
          <a:blip r:embed="rId3">
            <a:alphaModFix/>
          </a:blip>
          <a:stretch>
            <a:fillRect/>
          </a:stretch>
        </p:blipFill>
        <p:spPr>
          <a:xfrm>
            <a:off x="1295738" y="804600"/>
            <a:ext cx="6432673" cy="30826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5"/>
          <p:cNvSpPr txBox="1"/>
          <p:nvPr>
            <p:ph type="title"/>
          </p:nvPr>
        </p:nvSpPr>
        <p:spPr>
          <a:xfrm>
            <a:off x="284850" y="285900"/>
            <a:ext cx="64239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Key Insights for NYC Taxi Operations</a:t>
            </a:r>
            <a:endParaRPr/>
          </a:p>
        </p:txBody>
      </p:sp>
      <p:sp>
        <p:nvSpPr>
          <p:cNvPr id="430" name="Google Shape;430;p55"/>
          <p:cNvSpPr txBox="1"/>
          <p:nvPr/>
        </p:nvSpPr>
        <p:spPr>
          <a:xfrm>
            <a:off x="320375" y="1290200"/>
            <a:ext cx="4251600" cy="31605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lt1"/>
              </a:buClr>
              <a:buSzPts val="1500"/>
              <a:buChar char="●"/>
            </a:pPr>
            <a:r>
              <a:rPr b="1" lang="en" sz="1500">
                <a:solidFill>
                  <a:schemeClr val="lt1"/>
                </a:solidFill>
              </a:rPr>
              <a:t>Location strategy:</a:t>
            </a:r>
            <a:r>
              <a:rPr lang="en" sz="1500">
                <a:solidFill>
                  <a:schemeClr val="lt1"/>
                </a:solidFill>
              </a:rPr>
              <a:t> Focus on Manhattan core for balanced demand and earnings</a:t>
            </a:r>
            <a:endParaRPr sz="1500">
              <a:solidFill>
                <a:schemeClr val="lt1"/>
              </a:solidFill>
            </a:endParaRPr>
          </a:p>
          <a:p>
            <a:pPr indent="-323850" lvl="0" marL="457200" rtl="0" algn="l">
              <a:spcBef>
                <a:spcPts val="0"/>
              </a:spcBef>
              <a:spcAft>
                <a:spcPts val="0"/>
              </a:spcAft>
              <a:buClr>
                <a:schemeClr val="lt1"/>
              </a:buClr>
              <a:buSzPts val="1500"/>
              <a:buChar char="●"/>
            </a:pPr>
            <a:r>
              <a:rPr b="1" lang="en" sz="1500">
                <a:solidFill>
                  <a:schemeClr val="lt1"/>
                </a:solidFill>
              </a:rPr>
              <a:t>Payment preference:</a:t>
            </a:r>
            <a:r>
              <a:rPr lang="en" sz="1500">
                <a:solidFill>
                  <a:schemeClr val="lt1"/>
                </a:solidFill>
              </a:rPr>
              <a:t> Credit cards provide transparent, higher recorded tips</a:t>
            </a:r>
            <a:endParaRPr sz="1500">
              <a:solidFill>
                <a:schemeClr val="lt1"/>
              </a:solidFill>
            </a:endParaRPr>
          </a:p>
          <a:p>
            <a:pPr indent="-323850" lvl="0" marL="457200" rtl="0" algn="l">
              <a:spcBef>
                <a:spcPts val="0"/>
              </a:spcBef>
              <a:spcAft>
                <a:spcPts val="0"/>
              </a:spcAft>
              <a:buClr>
                <a:schemeClr val="lt1"/>
              </a:buClr>
              <a:buSzPts val="1500"/>
              <a:buChar char="●"/>
            </a:pPr>
            <a:r>
              <a:rPr b="1" lang="en" sz="1500">
                <a:solidFill>
                  <a:schemeClr val="lt1"/>
                </a:solidFill>
              </a:rPr>
              <a:t>Fee awareness:</a:t>
            </a:r>
            <a:r>
              <a:rPr lang="en" sz="1500">
                <a:solidFill>
                  <a:schemeClr val="lt1"/>
                </a:solidFill>
              </a:rPr>
              <a:t> 16% of revenue goes to mandatory fees, impacting driver income</a:t>
            </a:r>
            <a:endParaRPr sz="1500">
              <a:solidFill>
                <a:schemeClr val="lt1"/>
              </a:solidFill>
            </a:endParaRPr>
          </a:p>
          <a:p>
            <a:pPr indent="-323850" lvl="0" marL="457200" rtl="0" algn="l">
              <a:spcBef>
                <a:spcPts val="0"/>
              </a:spcBef>
              <a:spcAft>
                <a:spcPts val="0"/>
              </a:spcAft>
              <a:buClr>
                <a:schemeClr val="lt1"/>
              </a:buClr>
              <a:buSzPts val="1500"/>
              <a:buChar char="●"/>
            </a:pPr>
            <a:r>
              <a:rPr b="1" lang="en" sz="1500">
                <a:solidFill>
                  <a:schemeClr val="lt1"/>
                </a:solidFill>
              </a:rPr>
              <a:t>Timing optimization:</a:t>
            </a:r>
            <a:r>
              <a:rPr lang="en" sz="1500">
                <a:solidFill>
                  <a:schemeClr val="lt1"/>
                </a:solidFill>
              </a:rPr>
              <a:t> Night and afternoon shifts maximize profitability</a:t>
            </a:r>
            <a:endParaRPr sz="1500">
              <a:solidFill>
                <a:schemeClr val="lt1"/>
              </a:solidFill>
            </a:endParaRPr>
          </a:p>
          <a:p>
            <a:pPr indent="-323850" lvl="0" marL="457200" rtl="0" algn="l">
              <a:spcBef>
                <a:spcPts val="0"/>
              </a:spcBef>
              <a:spcAft>
                <a:spcPts val="0"/>
              </a:spcAft>
              <a:buClr>
                <a:schemeClr val="lt1"/>
              </a:buClr>
              <a:buSzPts val="1500"/>
              <a:buChar char="●"/>
            </a:pPr>
            <a:r>
              <a:rPr b="1" lang="en" sz="1500">
                <a:solidFill>
                  <a:schemeClr val="lt1"/>
                </a:solidFill>
              </a:rPr>
              <a:t>Future work:</a:t>
            </a:r>
            <a:r>
              <a:rPr lang="en" sz="1500">
                <a:solidFill>
                  <a:schemeClr val="lt1"/>
                </a:solidFill>
              </a:rPr>
              <a:t> Analyze seasonal patterns, COVID impact, competition from rideshares</a:t>
            </a:r>
            <a:endParaRPr sz="1500">
              <a:solidFill>
                <a:schemeClr val="lt1"/>
              </a:solidFill>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pic>
        <p:nvPicPr>
          <p:cNvPr id="431" name="Google Shape;431;p55" title="—Pngtree—gray new york empire state_4117532.png"/>
          <p:cNvPicPr preferRelativeResize="0"/>
          <p:nvPr/>
        </p:nvPicPr>
        <p:blipFill>
          <a:blip r:embed="rId3">
            <a:alphaModFix/>
          </a:blip>
          <a:stretch>
            <a:fillRect/>
          </a:stretch>
        </p:blipFill>
        <p:spPr>
          <a:xfrm>
            <a:off x="5269875" y="1013138"/>
            <a:ext cx="3246275" cy="3246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E0D54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